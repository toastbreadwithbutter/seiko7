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53FE5-B845-44B5-96A1-3F17FD1F4E85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5B811-501F-43C1-A9DB-537337377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87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0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4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1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93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68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9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67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5B811-501F-43C1-A9DB-5373373779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85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C37D-9B8E-E577-5921-B7A77631F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4AC53-4346-3DDB-93EF-19F8D5D83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D5757-3A21-5F7B-C9ED-4E308BEC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63690-27DE-21CC-6107-2DAC1738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DAE4-50FD-FB9B-D873-610FE757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3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238A-1F34-1E97-92D8-87EEF26A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7530-E1CA-64B3-6E9F-E52BD5A16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3E9B1-AD0B-9F7F-80B3-0CEB6690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0D862-6985-2339-5ECC-7DD1B10FC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9932B-2FD0-6401-8F48-689DA36D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CF7A-9F38-2322-2937-C7BB3E66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3D6F3-4144-6B8F-BA2C-B090BCFDD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BFFB-A5B9-F5B7-9A35-8BCC5432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F182A-F6DB-AAB7-2D50-4648AA09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C1FA-4C53-A88F-CF0A-A82ADE43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6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A83F-A02B-EB50-7074-6BD2A2C6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7B83-8B4E-34EC-4B98-E895AD81E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7BFD5-2057-6478-788B-1073E2237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AD19B-101F-9667-F87C-01C867E6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7324C-E5F4-B42C-FA34-D3391C21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86BE2-18F0-6171-2405-6BE4F91C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17EE-D77B-B3C7-8921-E9D59C96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D2F7-5389-9A93-EF44-E82D83C24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E8066-43E8-1C9E-4C82-8FE8F6AB4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854ED-7178-E783-35F4-DAABF12F1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C8EE2-016E-9471-1FF4-EF93316DE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52361-5535-A94A-4B17-97D75D67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438DE-77A3-D2AF-AED4-BD1E2D9D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5CC7B-8936-A475-C42A-EF8B1A7F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C0095-A529-640F-5885-62FD3139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E4B6F-EF63-07F8-2F25-21443FD6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33656-97B9-6A39-4DC0-8B585371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1E441-E33A-5943-F0C0-1014F17E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8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D0520-C09D-A8FB-7552-F07FEFF1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CCB83-B2B2-AC7F-418E-E2F25C2D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F853E-1328-FD58-3176-003DE452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2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B373-C894-6CE8-29ED-EFAE0DA0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F147-27BD-D34C-8394-CD3FBCA2F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69C3E-9D36-4B54-5133-556DFF147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91131-B8D5-F043-8006-6FBE8FBC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FF5D2-4D49-249E-8D76-6B458450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7AF70-421E-D6FF-A906-F2DE6763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9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A782-A87E-AA62-44FA-37BE8F2A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7186A-BBC1-9B15-C3BD-2A3515B0D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0A2F4-8082-A069-4C17-B476170FA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EF04C-40D8-E150-329C-4F31599E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D856B-024E-1DDD-0AE1-D5550AED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41C2A-E179-EB32-285B-1B9DE87E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9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85CF-8EE2-EA50-F44C-E6210886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F184-6466-2836-59DC-D276DCA25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41D67-2780-823B-5E6B-FC8E6AA9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BF463-B581-346C-AC68-560FFE05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CBDB6-3E5B-1636-ED94-9F1D3344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1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AEB61-5906-357E-4F58-7086E2F20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F952F-BF2B-8633-1F66-F227B9610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D7E86-D42F-1263-E70F-C5D1A996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383B3-73F9-AA6E-8DB9-ACD50CDC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1233-F5F9-2B1C-84D7-0CD41642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2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5CE7D-E5C6-AEE6-EBCA-BD0C58DF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AA2F5-053B-70C1-3D6F-B0F8A3848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9464-2546-2F3A-C58B-A23824CDE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55263-FF24-4FF2-A936-06D395C5C70B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24879-CB1C-4B33-3234-9F8AEF2DF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5782A-7004-B0A3-C740-CFD9CE6FA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E98A6-3279-4FC7-AEAD-042D50AE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8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DD8C-6BCF-BB78-5578-5783314FA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A4614-AEFF-E112-00B2-3A84A756B5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0BFD5-A563-36E1-BE11-2CC793C5D7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2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9E945-0B1D-C097-B434-31D0E840E5ED}"/>
              </a:ext>
            </a:extLst>
          </p:cNvPr>
          <p:cNvSpPr/>
          <p:nvPr/>
        </p:nvSpPr>
        <p:spPr>
          <a:xfrm>
            <a:off x="0" y="4318000"/>
            <a:ext cx="12192000" cy="1016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0E518-4BFE-CFF7-2CF3-C16E08E612AA}"/>
              </a:ext>
            </a:extLst>
          </p:cNvPr>
          <p:cNvSpPr txBox="1"/>
          <p:nvPr/>
        </p:nvSpPr>
        <p:spPr>
          <a:xfrm>
            <a:off x="762000" y="1524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Calibri Light" panose="020F0302020204030204" pitchFamily="34" charset="0"/>
              </a:rPr>
              <a:t>Seiko7 Online 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1EC25-31D5-7178-CFB2-E3DEF3D22E3D}"/>
              </a:ext>
            </a:extLst>
          </p:cNvPr>
          <p:cNvSpPr txBox="1"/>
          <p:nvPr/>
        </p:nvSpPr>
        <p:spPr>
          <a:xfrm>
            <a:off x="762000" y="2540000"/>
            <a:ext cx="1066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AED6F1"/>
                </a:solidFill>
                <a:latin typeface="Calibri" panose="020F0502020204030204" pitchFamily="34" charset="0"/>
              </a:rPr>
              <a:t>Sistem Penjualan Online - Ikhtisar Kode dan Arsitektur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0729F-456F-5BDB-6FF3-29A8A014CFCD}"/>
              </a:ext>
            </a:extLst>
          </p:cNvPr>
          <p:cNvSpPr txBox="1"/>
          <p:nvPr/>
        </p:nvSpPr>
        <p:spPr>
          <a:xfrm>
            <a:off x="762000" y="4826000"/>
            <a:ext cx="508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solidFill>
                  <a:srgbClr val="85C1E9"/>
                </a:solidFill>
                <a:latin typeface="Calibri" panose="020F0502020204030204" pitchFamily="34" charset="0"/>
              </a:rPr>
              <a:t>12 Juni 2026</a:t>
            </a:r>
          </a:p>
        </p:txBody>
      </p:sp>
    </p:spTree>
    <p:extLst>
      <p:ext uri="{BB962C8B-B14F-4D97-AF65-F5344CB8AC3E}">
        <p14:creationId xmlns:p14="http://schemas.microsoft.com/office/powerpoint/2010/main" val="75239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652-9F84-7CF8-06C5-6229A56B0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BD2A9-07E7-DA43-B48E-E325665D4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89A07-70AB-52F1-7EC5-52090DF7C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A7D38-4680-9F3E-D192-BB1FCB73E3A1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F8CD7-8978-4247-56EE-58004160D540}"/>
              </a:ext>
            </a:extLst>
          </p:cNvPr>
          <p:cNvSpPr txBox="1"/>
          <p:nvPr/>
        </p:nvSpPr>
        <p:spPr>
          <a:xfrm>
            <a:off x="381000" y="1524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Calibri Light" panose="020F0302020204030204" pitchFamily="34" charset="0"/>
              </a:rPr>
              <a:t>Tech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1F9BE-626D-82FE-AAB7-727CEB6CC51B}"/>
              </a:ext>
            </a:extLst>
          </p:cNvPr>
          <p:cNvSpPr txBox="1"/>
          <p:nvPr/>
        </p:nvSpPr>
        <p:spPr>
          <a:xfrm>
            <a:off x="635000" y="1270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Bahasa: PHP 8+ dengan strict types, typed params, named arguments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3430A-0429-B041-F994-8E5E9A75D11E}"/>
              </a:ext>
            </a:extLst>
          </p:cNvPr>
          <p:cNvSpPr txBox="1"/>
          <p:nvPr/>
        </p:nvSpPr>
        <p:spPr>
          <a:xfrm>
            <a:off x="635000" y="1651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Database: MySQL / MariaDB (InnoDB, utf8mb4, triggers)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8A7F6-66CD-DA32-C81B-517CD22600D2}"/>
              </a:ext>
            </a:extLst>
          </p:cNvPr>
          <p:cNvSpPr txBox="1"/>
          <p:nvPr/>
        </p:nvSpPr>
        <p:spPr>
          <a:xfrm>
            <a:off x="635000" y="2032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Akses DB: PDO singleton dengan prepared statements dan row locking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F93FC-EDF0-2E84-2F03-2BF9A4DE04EC}"/>
              </a:ext>
            </a:extLst>
          </p:cNvPr>
          <p:cNvSpPr txBox="1"/>
          <p:nvPr/>
        </p:nvSpPr>
        <p:spPr>
          <a:xfrm>
            <a:off x="635000" y="2413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Frontend: CSS vanilla (1026 baris, responsif, CSS custom properties)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2F287-2044-48AA-5C9E-A780C911B55E}"/>
              </a:ext>
            </a:extLst>
          </p:cNvPr>
          <p:cNvSpPr txBox="1"/>
          <p:nvPr/>
        </p:nvSpPr>
        <p:spPr>
          <a:xfrm>
            <a:off x="635000" y="2794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Ikon: Font Awesome 4.7 (tanpa framework JavaScript)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472451-8D2E-1951-BD02-8656271B500B}"/>
              </a:ext>
            </a:extLst>
          </p:cNvPr>
          <p:cNvSpPr txBox="1"/>
          <p:nvPr/>
        </p:nvSpPr>
        <p:spPr>
          <a:xfrm>
            <a:off x="635000" y="3175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Gambar: Validasi upload - maks 2MB, jpg/png/gif/webp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2D8E9-F03E-6505-41C4-29A549504978}"/>
              </a:ext>
            </a:extLst>
          </p:cNvPr>
          <p:cNvSpPr txBox="1"/>
          <p:nvPr/>
        </p:nvSpPr>
        <p:spPr>
          <a:xfrm>
            <a:off x="635000" y="3556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Auth: Berbasis session, password plaintext dibanding dgn hash_equals()</a:t>
            </a:r>
          </a:p>
        </p:txBody>
      </p:sp>
    </p:spTree>
    <p:extLst>
      <p:ext uri="{BB962C8B-B14F-4D97-AF65-F5344CB8AC3E}">
        <p14:creationId xmlns:p14="http://schemas.microsoft.com/office/powerpoint/2010/main" val="250355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875E-FE52-8B39-5D5C-8CA670DDF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1F9E9-E848-5B29-0796-57705121F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144" y="3208846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D6D1D6-DFB8-7B2C-5724-F04906EF81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2FB09-F195-FBEB-B9E3-F5A6DD7A8CC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A52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4C413-BBAE-BF0D-8D51-32161C624720}"/>
              </a:ext>
            </a:extLst>
          </p:cNvPr>
          <p:cNvSpPr txBox="1"/>
          <p:nvPr/>
        </p:nvSpPr>
        <p:spPr>
          <a:xfrm>
            <a:off x="381000" y="1524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Calibri Light" panose="020F0302020204030204" pitchFamily="34" charset="0"/>
              </a:rPr>
              <a:t>Struktur Direktori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8F35E-458C-2576-CE2F-D2E0CC57DB8F}"/>
              </a:ext>
            </a:extLst>
          </p:cNvPr>
          <p:cNvSpPr txBox="1"/>
          <p:nvPr/>
        </p:nvSpPr>
        <p:spPr>
          <a:xfrm>
            <a:off x="635000" y="1270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Penjualan/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BFB05-7FFC-EB04-2775-26B113BFCE0E}"/>
              </a:ext>
            </a:extLst>
          </p:cNvPr>
          <p:cNvSpPr txBox="1"/>
          <p:nvPr/>
        </p:nvSpPr>
        <p:spPr>
          <a:xfrm>
            <a:off x="635000" y="1651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  index.php, product.php, cart.php, checkout.php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BFCAC-0F31-0BDC-BDD6-E2EB7DA6C16C}"/>
              </a:ext>
            </a:extLst>
          </p:cNvPr>
          <p:cNvSpPr txBox="1"/>
          <p:nvPr/>
        </p:nvSpPr>
        <p:spPr>
          <a:xfrm>
            <a:off x="635000" y="2032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  orders.php, pencarian.php, tentang_kami.php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DAFA9-EC38-4565-8C9D-8BCB8A9CFE63}"/>
              </a:ext>
            </a:extLst>
          </p:cNvPr>
          <p:cNvSpPr txBox="1"/>
          <p:nvPr/>
        </p:nvSpPr>
        <p:spPr>
          <a:xfrm>
            <a:off x="644144" y="2400808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  app/  - config.php, db.php, functions.php, bootstrap.php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256D24-7F8D-41ED-F9C5-F307E33AE9A1}"/>
              </a:ext>
            </a:extLst>
          </p:cNvPr>
          <p:cNvSpPr txBox="1"/>
          <p:nvPr/>
        </p:nvSpPr>
        <p:spPr>
          <a:xfrm>
            <a:off x="644144" y="2781808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  admin/ - index.php, products.php, orders.php, logout.php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9E91-464E-A742-2342-2FAB510358B8}"/>
              </a:ext>
            </a:extLst>
          </p:cNvPr>
          <p:cNvSpPr txBox="1"/>
          <p:nvPr/>
        </p:nvSpPr>
        <p:spPr>
          <a:xfrm>
            <a:off x="644144" y="3162808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  login/ - index.php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16390-21FF-64C9-3C6D-11EC34EDD663}"/>
              </a:ext>
            </a:extLst>
          </p:cNvPr>
          <p:cNvSpPr txBox="1"/>
          <p:nvPr/>
        </p:nvSpPr>
        <p:spPr>
          <a:xfrm>
            <a:off x="644144" y="3543808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1C2833"/>
                </a:solidFill>
                <a:latin typeface="Calibri" panose="020F0502020204030204" pitchFamily="34" charset="0"/>
              </a:rPr>
              <a:t>-    partials/ - header.php, footer.php, admin_sidebar.php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DE57C-52CF-5533-4BCB-A53739D09FAC}"/>
              </a:ext>
            </a:extLst>
          </p:cNvPr>
          <p:cNvSpPr txBox="1"/>
          <p:nvPr/>
        </p:nvSpPr>
        <p:spPr>
          <a:xfrm>
            <a:off x="644144" y="3924808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dirty="0">
                <a:solidFill>
                  <a:srgbClr val="1C2833"/>
                </a:solidFill>
                <a:latin typeface="Calibri" panose="020F0502020204030204" pitchFamily="34" charset="0"/>
              </a:rPr>
              <a:t>-    assets/ - </a:t>
            </a:r>
            <a:r>
              <a:rPr lang="en-US" sz="1700" dirty="0" err="1">
                <a:solidFill>
                  <a:srgbClr val="1C2833"/>
                </a:solidFill>
                <a:latin typeface="Calibri" panose="020F0502020204030204" pitchFamily="34" charset="0"/>
              </a:rPr>
              <a:t>css</a:t>
            </a:r>
            <a:r>
              <a:rPr lang="en-US" sz="1700" dirty="0">
                <a:solidFill>
                  <a:srgbClr val="1C2833"/>
                </a:solidFill>
                <a:latin typeface="Calibri" panose="020F0502020204030204" pitchFamily="34" charset="0"/>
              </a:rPr>
              <a:t>/style.css, images/*.*</a:t>
            </a:r>
          </a:p>
        </p:txBody>
      </p:sp>
    </p:spTree>
    <p:extLst>
      <p:ext uri="{BB962C8B-B14F-4D97-AF65-F5344CB8AC3E}">
        <p14:creationId xmlns:p14="http://schemas.microsoft.com/office/powerpoint/2010/main" val="133181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05BA-617F-B36A-A2A6-B70FB8F2E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80A50-DAEE-D82C-D945-BD80930301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5E73F2-40D3-4396-2754-761590D6C0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FAE4B-1BCA-2D67-77A9-C84EE377F349}"/>
              </a:ext>
            </a:extLst>
          </p:cNvPr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1A52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1383C-D3F5-B25B-9C0B-08397436B2D5}"/>
              </a:ext>
            </a:extLst>
          </p:cNvPr>
          <p:cNvSpPr txBox="1"/>
          <p:nvPr/>
        </p:nvSpPr>
        <p:spPr>
          <a:xfrm>
            <a:off x="254000" y="635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 Light" panose="020F0302020204030204" pitchFamily="34" charset="0"/>
              </a:rPr>
              <a:t>Tabel Database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AA85ED-FBEA-EC5D-6B7E-F56BA74E0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954091"/>
              </p:ext>
            </p:extLst>
          </p:nvPr>
        </p:nvGraphicFramePr>
        <p:xfrm>
          <a:off x="777240" y="984249"/>
          <a:ext cx="10637520" cy="558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760">
                  <a:extLst>
                    <a:ext uri="{9D8B030D-6E8A-4147-A177-3AD203B41FA5}">
                      <a16:colId xmlns:a16="http://schemas.microsoft.com/office/drawing/2014/main" val="3194729007"/>
                    </a:ext>
                  </a:extLst>
                </a:gridCol>
                <a:gridCol w="5318760">
                  <a:extLst>
                    <a:ext uri="{9D8B030D-6E8A-4147-A177-3AD203B41FA5}">
                      <a16:colId xmlns:a16="http://schemas.microsoft.com/office/drawing/2014/main" val="4029492404"/>
                    </a:ext>
                  </a:extLst>
                </a:gridCol>
              </a:tblGrid>
              <a:tr h="79828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Tabel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Kegunaan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786415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Auth admin (password plaintext)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825197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categories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Kategori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produk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 (Elektronik, </a:t>
                      </a:r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Pakaian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dll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.)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331949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Katalog produk dengan promo dan stok</a:t>
                      </a:r>
                      <a:endParaRPr lang="en-US" sz="2000">
                        <a:solidFill>
                          <a:srgbClr val="1C2833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130204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orders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Pesanan pelanggan dgn status dan timestamp</a:t>
                      </a:r>
                      <a:endParaRPr lang="en-US" sz="2000">
                        <a:solidFill>
                          <a:srgbClr val="1C2833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35409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order_items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Item per pesanan (snapshot produk)</a:t>
                      </a:r>
                      <a:endParaRPr lang="en-US" sz="2000">
                        <a:solidFill>
                          <a:srgbClr val="1C2833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0864"/>
                  </a:ext>
                </a:extLst>
              </a:tr>
              <a:tr h="798286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settings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Konfigurasi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 key-value (</a:t>
                      </a:r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contoh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: </a:t>
                      </a:r>
                      <a:r>
                        <a:rPr lang="en-US" sz="20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low_stock_threshold</a:t>
                      </a:r>
                      <a:r>
                        <a:rPr lang="en-US" sz="2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81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87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CB4F3-5CDA-D7DE-B7CE-1E9D56193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A1853-616A-FC9F-35F0-EF21E9699862}"/>
              </a:ext>
            </a:extLst>
          </p:cNvPr>
          <p:cNvSpPr/>
          <p:nvPr/>
        </p:nvSpPr>
        <p:spPr>
          <a:xfrm>
            <a:off x="0" y="128016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C5B14-0359-E21D-9269-30D7B0865BBD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C2F8F-83FC-7A33-5A1F-18D80E243FEF}"/>
              </a:ext>
            </a:extLst>
          </p:cNvPr>
          <p:cNvSpPr txBox="1"/>
          <p:nvPr/>
        </p:nvSpPr>
        <p:spPr>
          <a:xfrm>
            <a:off x="381000" y="1524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Calibri Light" panose="020F0302020204030204" pitchFamily="34" charset="0"/>
              </a:rPr>
              <a:t>Relasi Entity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E4CF5-D403-9D6A-4FDA-0B07722C79EB}"/>
              </a:ext>
            </a:extLst>
          </p:cNvPr>
          <p:cNvSpPr txBox="1"/>
          <p:nvPr/>
        </p:nvSpPr>
        <p:spPr>
          <a:xfrm>
            <a:off x="635000" y="12700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-  categories (1)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ke</a:t>
            </a:r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 (N) products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E0E7C-1801-FB48-FA1F-7544826B6E3A}"/>
              </a:ext>
            </a:extLst>
          </p:cNvPr>
          <p:cNvSpPr txBox="1"/>
          <p:nvPr/>
        </p:nvSpPr>
        <p:spPr>
          <a:xfrm>
            <a:off x="635000" y="1760728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-  products   (1)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ke</a:t>
            </a:r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 (N)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order_items</a:t>
            </a:r>
            <a:endParaRPr lang="en-US" sz="32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BD37C-480B-CFE2-4888-EF8655B29586}"/>
              </a:ext>
            </a:extLst>
          </p:cNvPr>
          <p:cNvSpPr txBox="1"/>
          <p:nvPr/>
        </p:nvSpPr>
        <p:spPr>
          <a:xfrm>
            <a:off x="635000" y="2278888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-  orders     (1)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ke</a:t>
            </a:r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 (N)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order_items</a:t>
            </a:r>
            <a:endParaRPr lang="en-US" sz="32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A152E-DABC-E6ED-1F7A-783E1421D246}"/>
              </a:ext>
            </a:extLst>
          </p:cNvPr>
          <p:cNvSpPr txBox="1"/>
          <p:nvPr/>
        </p:nvSpPr>
        <p:spPr>
          <a:xfrm>
            <a:off x="635000" y="2787904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200" dirty="0">
                <a:solidFill>
                  <a:srgbClr val="1C2833"/>
                </a:solidFill>
                <a:latin typeface="Calibri" panose="020F0502020204030204" pitchFamily="34" charset="0"/>
              </a:rPr>
              <a:t>-  users adalah tabel admin mandiri</a:t>
            </a:r>
            <a:endParaRPr lang="en-US" sz="32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E61C2-CB62-68C9-06D4-4DEFB3778EA6}"/>
              </a:ext>
            </a:extLst>
          </p:cNvPr>
          <p:cNvSpPr txBox="1"/>
          <p:nvPr/>
        </p:nvSpPr>
        <p:spPr>
          <a:xfrm>
            <a:off x="635000" y="329692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-  settings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adalah</a:t>
            </a:r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penyimpanan</a:t>
            </a:r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 key-value (</a:t>
            </a:r>
            <a:r>
              <a:rPr lang="en-US" sz="3200" dirty="0" err="1">
                <a:solidFill>
                  <a:srgbClr val="1C2833"/>
                </a:solidFill>
                <a:latin typeface="Calibri" panose="020F0502020204030204" pitchFamily="34" charset="0"/>
              </a:rPr>
              <a:t>low_stock_threshold</a:t>
            </a:r>
            <a:r>
              <a:rPr lang="en-US" sz="3200" dirty="0">
                <a:solidFill>
                  <a:srgbClr val="1C2833"/>
                </a:solidFill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905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91E51A-CAF6-7FC9-FBBF-F0521EEC3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C3832D-A0FF-FD8B-2EB1-9D265D28F70C}"/>
              </a:ext>
            </a:extLst>
          </p:cNvPr>
          <p:cNvSpPr/>
          <p:nvPr/>
        </p:nvSpPr>
        <p:spPr>
          <a:xfrm>
            <a:off x="9144" y="216662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224EEC-80F4-E885-850F-CE7F1995FE1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A52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F2EF3-459B-5AEE-A25D-3BF87AA36373}"/>
              </a:ext>
            </a:extLst>
          </p:cNvPr>
          <p:cNvSpPr txBox="1"/>
          <p:nvPr/>
        </p:nvSpPr>
        <p:spPr>
          <a:xfrm>
            <a:off x="381000" y="152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Calibri Light" panose="020F0302020204030204" pitchFamily="34" charset="0"/>
              </a:rPr>
              <a:t>Fitur Storefront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F0E64-1D8F-00D0-D6D9-37C1B3DBF2B1}"/>
              </a:ext>
            </a:extLst>
          </p:cNvPr>
          <p:cNvSpPr/>
          <p:nvPr/>
        </p:nvSpPr>
        <p:spPr>
          <a:xfrm>
            <a:off x="6032500" y="1079500"/>
            <a:ext cx="38100" cy="55880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0CCF2-E99B-47C7-F11E-2B6087934BAC}"/>
              </a:ext>
            </a:extLst>
          </p:cNvPr>
          <p:cNvSpPr txBox="1"/>
          <p:nvPr/>
        </p:nvSpPr>
        <p:spPr>
          <a:xfrm>
            <a:off x="381000" y="1079500"/>
            <a:ext cx="5334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1A5276"/>
                </a:solidFill>
                <a:latin typeface="Calibri" panose="020F0502020204030204" pitchFamily="34" charset="0"/>
              </a:rPr>
              <a:t>Jelajah dan Cari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FBD35-D3B0-47AF-BCF0-37D36A2D03F7}"/>
              </a:ext>
            </a:extLst>
          </p:cNvPr>
          <p:cNvSpPr txBox="1"/>
          <p:nvPr/>
        </p:nvSpPr>
        <p:spPr>
          <a:xfrm>
            <a:off x="508000" y="1587500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2400" dirty="0">
                <a:solidFill>
                  <a:srgbClr val="1C2833"/>
                </a:solidFill>
                <a:latin typeface="Calibri" panose="020F0502020204030204" pitchFamily="34" charset="0"/>
              </a:rPr>
              <a:t>-  Beranda: statistik hero, grid promo, semua produk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06681-1574-1209-E323-BBCBD01CF64D}"/>
              </a:ext>
            </a:extLst>
          </p:cNvPr>
          <p:cNvSpPr txBox="1"/>
          <p:nvPr/>
        </p:nvSpPr>
        <p:spPr>
          <a:xfrm>
            <a:off x="508000" y="2347468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Detail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produk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: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gambar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, badge promo,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produk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terkait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9961E-835C-01A9-19D6-C1338C2360F5}"/>
              </a:ext>
            </a:extLst>
          </p:cNvPr>
          <p:cNvSpPr txBox="1"/>
          <p:nvPr/>
        </p:nvSpPr>
        <p:spPr>
          <a:xfrm>
            <a:off x="517144" y="3098292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2400" dirty="0">
                <a:solidFill>
                  <a:srgbClr val="1C2833"/>
                </a:solidFill>
                <a:latin typeface="Calibri" panose="020F0502020204030204" pitchFamily="34" charset="0"/>
              </a:rPr>
              <a:t>-  Cari berdasarkan kata kunci + kategori + urutan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70B65-2F39-80E0-069F-C55DCA4A302F}"/>
              </a:ext>
            </a:extLst>
          </p:cNvPr>
          <p:cNvSpPr txBox="1"/>
          <p:nvPr/>
        </p:nvSpPr>
        <p:spPr>
          <a:xfrm>
            <a:off x="508000" y="3922268"/>
            <a:ext cx="520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Halaman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Tentang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Kami statis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FAD8A3-1952-2C4A-E634-2E1FB91B110E}"/>
              </a:ext>
            </a:extLst>
          </p:cNvPr>
          <p:cNvSpPr txBox="1"/>
          <p:nvPr/>
        </p:nvSpPr>
        <p:spPr>
          <a:xfrm>
            <a:off x="6413500" y="1079500"/>
            <a:ext cx="5334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 err="1">
                <a:solidFill>
                  <a:srgbClr val="1A5276"/>
                </a:solidFill>
                <a:latin typeface="Calibri" panose="020F0502020204030204" pitchFamily="34" charset="0"/>
              </a:rPr>
              <a:t>Keranjang</a:t>
            </a:r>
            <a:r>
              <a:rPr lang="en-US" sz="3200" b="1" dirty="0">
                <a:solidFill>
                  <a:srgbClr val="1A5276"/>
                </a:solidFill>
                <a:latin typeface="Calibri" panose="020F0502020204030204" pitchFamily="34" charset="0"/>
              </a:rPr>
              <a:t> dan </a:t>
            </a:r>
            <a:r>
              <a:rPr lang="en-US" sz="3200" b="1" dirty="0" err="1">
                <a:solidFill>
                  <a:srgbClr val="1A5276"/>
                </a:solidFill>
                <a:latin typeface="Calibri" panose="020F0502020204030204" pitchFamily="34" charset="0"/>
              </a:rPr>
              <a:t>Pesanan</a:t>
            </a:r>
            <a:endParaRPr lang="en-US" sz="3200" b="1" dirty="0">
              <a:solidFill>
                <a:srgbClr val="1A527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728EA-8863-FABE-4564-AFC33FC5F5F5}"/>
              </a:ext>
            </a:extLst>
          </p:cNvPr>
          <p:cNvSpPr txBox="1"/>
          <p:nvPr/>
        </p:nvSpPr>
        <p:spPr>
          <a:xfrm>
            <a:off x="6540500" y="1587500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Keranjang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belanja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berbasis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session (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ubah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qty, hapus)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9724D-C526-AF55-8413-7379773A348C}"/>
              </a:ext>
            </a:extLst>
          </p:cNvPr>
          <p:cNvSpPr txBox="1"/>
          <p:nvPr/>
        </p:nvSpPr>
        <p:spPr>
          <a:xfrm>
            <a:off x="6549644" y="2347468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-  Checkout: form pelanggan + row locking (FOR UPDATE)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4505F-9FE1-5816-144A-8734E7B9A8FD}"/>
              </a:ext>
            </a:extLst>
          </p:cNvPr>
          <p:cNvSpPr txBox="1"/>
          <p:nvPr/>
        </p:nvSpPr>
        <p:spPr>
          <a:xfrm>
            <a:off x="6540500" y="3098292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Lacak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pesanan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via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telepon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+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kode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pesanan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034C74-FE7D-526E-C99D-7B2B4A4B7DCA}"/>
              </a:ext>
            </a:extLst>
          </p:cNvPr>
          <p:cNvSpPr txBox="1"/>
          <p:nvPr/>
        </p:nvSpPr>
        <p:spPr>
          <a:xfrm>
            <a:off x="6540500" y="3913124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Batal /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konfirmasi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diterima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/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minta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refund</a:t>
            </a:r>
          </a:p>
        </p:txBody>
      </p:sp>
    </p:spTree>
    <p:extLst>
      <p:ext uri="{BB962C8B-B14F-4D97-AF65-F5344CB8AC3E}">
        <p14:creationId xmlns:p14="http://schemas.microsoft.com/office/powerpoint/2010/main" val="321493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4798-6CC3-8D4A-195D-C014047AE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6E433-5E45-DA4B-0FCC-FDE491313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FA57F-84A7-DA0C-760A-EECCA39831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D3AA6-7A24-1B52-D5D6-299CA69289F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0E5A3-5B5F-0DCE-9112-02B5A44C361E}"/>
              </a:ext>
            </a:extLst>
          </p:cNvPr>
          <p:cNvSpPr txBox="1"/>
          <p:nvPr/>
        </p:nvSpPr>
        <p:spPr>
          <a:xfrm>
            <a:off x="381000" y="152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Calibri Light" panose="020F0302020204030204" pitchFamily="34" charset="0"/>
              </a:rPr>
              <a:t>Fitur Panel 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77DC8-5245-ADB6-BB0B-E5D80371F88E}"/>
              </a:ext>
            </a:extLst>
          </p:cNvPr>
          <p:cNvSpPr/>
          <p:nvPr/>
        </p:nvSpPr>
        <p:spPr>
          <a:xfrm>
            <a:off x="6032500" y="1079500"/>
            <a:ext cx="38100" cy="55880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27397-2385-0D03-3870-4303F1A0062B}"/>
              </a:ext>
            </a:extLst>
          </p:cNvPr>
          <p:cNvSpPr txBox="1"/>
          <p:nvPr/>
        </p:nvSpPr>
        <p:spPr>
          <a:xfrm>
            <a:off x="381000" y="1079500"/>
            <a:ext cx="533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2E86C1"/>
                </a:solidFill>
                <a:latin typeface="Calibri" panose="020F0502020204030204" pitchFamily="34" charset="0"/>
              </a:rPr>
              <a:t>Dashboard dan Produk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EE680-E755-8829-DBDF-853CCD034684}"/>
              </a:ext>
            </a:extLst>
          </p:cNvPr>
          <p:cNvSpPr txBox="1"/>
          <p:nvPr/>
        </p:nvSpPr>
        <p:spPr>
          <a:xfrm>
            <a:off x="508000" y="1587500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2400">
                <a:solidFill>
                  <a:srgbClr val="1C2833"/>
                </a:solidFill>
                <a:latin typeface="Calibri" panose="020F0502020204030204" pitchFamily="34" charset="0"/>
              </a:rPr>
              <a:t>-  Statistik: total produk, stok, pesanan, pendapatan</a:t>
            </a:r>
            <a:endParaRPr lang="en-US" sz="240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0CED2-B08C-4047-49C4-2804EEBC203F}"/>
              </a:ext>
            </a:extLst>
          </p:cNvPr>
          <p:cNvSpPr txBox="1"/>
          <p:nvPr/>
        </p:nvSpPr>
        <p:spPr>
          <a:xfrm>
            <a:off x="508000" y="2384044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2400" dirty="0">
                <a:solidFill>
                  <a:srgbClr val="1C2833"/>
                </a:solidFill>
                <a:latin typeface="Calibri" panose="020F0502020204030204" pitchFamily="34" charset="0"/>
              </a:rPr>
              <a:t>-  Peringatan stok menipis dengan ambang batas konfigurabel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82E62-80CE-F80E-BC1B-D1CEE1F17625}"/>
              </a:ext>
            </a:extLst>
          </p:cNvPr>
          <p:cNvSpPr txBox="1"/>
          <p:nvPr/>
        </p:nvSpPr>
        <p:spPr>
          <a:xfrm>
            <a:off x="508000" y="3153156"/>
            <a:ext cx="520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Tabel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pesanan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terbaru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tampilan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cepat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27095-3DAF-0166-05AC-C9FF8FCA01ED}"/>
              </a:ext>
            </a:extLst>
          </p:cNvPr>
          <p:cNvSpPr txBox="1"/>
          <p:nvPr/>
        </p:nvSpPr>
        <p:spPr>
          <a:xfrm>
            <a:off x="508000" y="3638804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CRUD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penuh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produk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dengan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upload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gambar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207F0-3F04-C36F-E941-D426F0896ABF}"/>
              </a:ext>
            </a:extLst>
          </p:cNvPr>
          <p:cNvSpPr txBox="1"/>
          <p:nvPr/>
        </p:nvSpPr>
        <p:spPr>
          <a:xfrm>
            <a:off x="508000" y="4444492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Filter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berdasarkan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kata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kunci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kategori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, promo,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stok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4FF1E-BB11-BBE5-8C37-1DB958F45246}"/>
              </a:ext>
            </a:extLst>
          </p:cNvPr>
          <p:cNvSpPr txBox="1"/>
          <p:nvPr/>
        </p:nvSpPr>
        <p:spPr>
          <a:xfrm>
            <a:off x="6413500" y="1079500"/>
            <a:ext cx="533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2E86C1"/>
                </a:solidFill>
                <a:latin typeface="Calibri" panose="020F0502020204030204" pitchFamily="34" charset="0"/>
              </a:rPr>
              <a:t>Manajemen Pesanan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5756F0-6249-0A0F-D4F0-7C677D4CBC37}"/>
              </a:ext>
            </a:extLst>
          </p:cNvPr>
          <p:cNvSpPr txBox="1"/>
          <p:nvPr/>
        </p:nvSpPr>
        <p:spPr>
          <a:xfrm>
            <a:off x="6540500" y="1587500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2400">
                <a:solidFill>
                  <a:srgbClr val="1C2833"/>
                </a:solidFill>
                <a:latin typeface="Calibri" panose="020F0502020204030204" pitchFamily="34" charset="0"/>
              </a:rPr>
              <a:t>-  Daftar/cari semua pesanan berdasarkan kata kunci/status</a:t>
            </a:r>
            <a:endParaRPr lang="en-US" sz="240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06726-0EBF-8E44-B3BF-4F576D53202C}"/>
              </a:ext>
            </a:extLst>
          </p:cNvPr>
          <p:cNvSpPr txBox="1"/>
          <p:nvPr/>
        </p:nvSpPr>
        <p:spPr>
          <a:xfrm>
            <a:off x="6540500" y="2384044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2400" dirty="0">
                <a:solidFill>
                  <a:srgbClr val="1C2833"/>
                </a:solidFill>
                <a:latin typeface="Calibri" panose="020F0502020204030204" pitchFamily="34" charset="0"/>
              </a:rPr>
              <a:t>-  Tandai pesanan pending sebagai dikirim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07E84D-28D2-75AA-71CB-757B0A851F30}"/>
              </a:ext>
            </a:extLst>
          </p:cNvPr>
          <p:cNvSpPr txBox="1"/>
          <p:nvPr/>
        </p:nvSpPr>
        <p:spPr>
          <a:xfrm>
            <a:off x="6540500" y="3153156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i-FI" sz="2400" dirty="0">
                <a:solidFill>
                  <a:srgbClr val="1C2833"/>
                </a:solidFill>
                <a:latin typeface="Calibri" panose="020F0502020204030204" pitchFamily="34" charset="0"/>
              </a:rPr>
              <a:t>-  Setujui permintaan refund (restok otomatis)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1F6043-FEBC-1C3F-F602-B4DE8F233CA1}"/>
              </a:ext>
            </a:extLst>
          </p:cNvPr>
          <p:cNvSpPr txBox="1"/>
          <p:nvPr/>
        </p:nvSpPr>
        <p:spPr>
          <a:xfrm>
            <a:off x="6540500" y="3913124"/>
            <a:ext cx="520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-  Lihat item per pesanan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C6DAE2-E4D7-93EC-9420-C6C7D27BBD8E}"/>
              </a:ext>
            </a:extLst>
          </p:cNvPr>
          <p:cNvSpPr txBox="1"/>
          <p:nvPr/>
        </p:nvSpPr>
        <p:spPr>
          <a:xfrm>
            <a:off x="6540500" y="4343908"/>
            <a:ext cx="5207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-  Login admin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dengan</a:t>
            </a:r>
            <a:r>
              <a:rPr lang="en-US" sz="2400" dirty="0">
                <a:solidFill>
                  <a:srgbClr val="1C2833"/>
                </a:solidFill>
                <a:latin typeface="Calibri" panose="020F0502020204030204" pitchFamily="34" charset="0"/>
              </a:rPr>
              <a:t> session auth </a:t>
            </a:r>
            <a:r>
              <a:rPr lang="en-US" sz="2400" dirty="0" err="1">
                <a:solidFill>
                  <a:srgbClr val="1C2833"/>
                </a:solidFill>
                <a:latin typeface="Calibri" panose="020F0502020204030204" pitchFamily="34" charset="0"/>
              </a:rPr>
              <a:t>sederhana</a:t>
            </a:r>
            <a:endParaRPr lang="en-US" sz="2400" dirty="0">
              <a:solidFill>
                <a:srgbClr val="1C28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5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D4D6-9597-1E4A-E2B2-86248DFA2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717D0-8B8B-4796-0BFF-B2A52C728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3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4A42F3-D94D-1CE8-435D-4360A57EB3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F7B3B4-181B-AB8E-1AE4-E58545186017}"/>
              </a:ext>
            </a:extLst>
          </p:cNvPr>
          <p:cNvSpPr/>
          <p:nvPr/>
        </p:nvSpPr>
        <p:spPr>
          <a:xfrm>
            <a:off x="0" y="0"/>
            <a:ext cx="12192000" cy="698500"/>
          </a:xfrm>
          <a:prstGeom prst="rect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AE362-D4FD-88B7-AD1E-B8EDE6A22633}"/>
              </a:ext>
            </a:extLst>
          </p:cNvPr>
          <p:cNvSpPr txBox="1"/>
          <p:nvPr/>
        </p:nvSpPr>
        <p:spPr>
          <a:xfrm>
            <a:off x="254000" y="635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 Light" panose="020F0302020204030204" pitchFamily="34" charset="0"/>
              </a:rPr>
              <a:t>Siklus Hidup Pesanan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8D04B3-E5A2-8327-9D25-794F696C8C85}"/>
              </a:ext>
            </a:extLst>
          </p:cNvPr>
          <p:cNvSpPr/>
          <p:nvPr/>
        </p:nvSpPr>
        <p:spPr>
          <a:xfrm>
            <a:off x="508000" y="1143000"/>
            <a:ext cx="508000" cy="508000"/>
          </a:xfrm>
          <a:prstGeom prst="ellipse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193F4-167B-181C-3B04-BC03D4D556F0}"/>
              </a:ext>
            </a:extLst>
          </p:cNvPr>
          <p:cNvSpPr txBox="1"/>
          <p:nvPr/>
        </p:nvSpPr>
        <p:spPr>
          <a:xfrm>
            <a:off x="1270000" y="1206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PENDING - Pelanggan membuat pesanan (stok dikurangi)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338528-ACBA-121A-0A4B-AE66E8E9C783}"/>
              </a:ext>
            </a:extLst>
          </p:cNvPr>
          <p:cNvSpPr/>
          <p:nvPr/>
        </p:nvSpPr>
        <p:spPr>
          <a:xfrm>
            <a:off x="508000" y="1905000"/>
            <a:ext cx="508000" cy="508000"/>
          </a:xfrm>
          <a:prstGeom prst="ellipse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AF2D9-8C67-910C-AB43-8156C508018A}"/>
              </a:ext>
            </a:extLst>
          </p:cNvPr>
          <p:cNvSpPr txBox="1"/>
          <p:nvPr/>
        </p:nvSpPr>
        <p:spPr>
          <a:xfrm>
            <a:off x="1270000" y="1968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SHIPPED - Admin menandai sebagai dikirim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2469ED-D0A7-9155-A74D-5F58FD2C1EF1}"/>
              </a:ext>
            </a:extLst>
          </p:cNvPr>
          <p:cNvSpPr/>
          <p:nvPr/>
        </p:nvSpPr>
        <p:spPr>
          <a:xfrm>
            <a:off x="508000" y="2667000"/>
            <a:ext cx="508000" cy="508000"/>
          </a:xfrm>
          <a:prstGeom prst="ellipse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A49A3-F7EF-0D92-230F-ABF88B598C43}"/>
              </a:ext>
            </a:extLst>
          </p:cNvPr>
          <p:cNvSpPr txBox="1"/>
          <p:nvPr/>
        </p:nvSpPr>
        <p:spPr>
          <a:xfrm>
            <a:off x="1270000" y="2730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COMPLETED - Pelanggan konfirmasi diterima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D71DDB-96A8-0F3F-15A2-595FEFA97FAD}"/>
              </a:ext>
            </a:extLst>
          </p:cNvPr>
          <p:cNvSpPr/>
          <p:nvPr/>
        </p:nvSpPr>
        <p:spPr>
          <a:xfrm>
            <a:off x="508000" y="3429000"/>
            <a:ext cx="508000" cy="508000"/>
          </a:xfrm>
          <a:prstGeom prst="ellipse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81E61-63C0-9631-839A-B0640E300045}"/>
              </a:ext>
            </a:extLst>
          </p:cNvPr>
          <p:cNvSpPr txBox="1"/>
          <p:nvPr/>
        </p:nvSpPr>
        <p:spPr>
          <a:xfrm>
            <a:off x="1270000" y="3492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REFUND REQUESTED - Pelanggan minta refund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4B54A2-6CE7-934C-D66E-424626A3344A}"/>
              </a:ext>
            </a:extLst>
          </p:cNvPr>
          <p:cNvSpPr/>
          <p:nvPr/>
        </p:nvSpPr>
        <p:spPr>
          <a:xfrm>
            <a:off x="508000" y="4191000"/>
            <a:ext cx="508000" cy="508000"/>
          </a:xfrm>
          <a:prstGeom prst="ellipse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47F1D7-5E9E-1368-11A8-2B91B8A5DA32}"/>
              </a:ext>
            </a:extLst>
          </p:cNvPr>
          <p:cNvSpPr txBox="1"/>
          <p:nvPr/>
        </p:nvSpPr>
        <p:spPr>
          <a:xfrm>
            <a:off x="1270000" y="4254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REFUNDED - Admin setujui (stok dikembalikan)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1DDEDF-55A3-F612-E433-D3293BD6F549}"/>
              </a:ext>
            </a:extLst>
          </p:cNvPr>
          <p:cNvSpPr/>
          <p:nvPr/>
        </p:nvSpPr>
        <p:spPr>
          <a:xfrm>
            <a:off x="508000" y="4953000"/>
            <a:ext cx="508000" cy="508000"/>
          </a:xfrm>
          <a:prstGeom prst="ellipse">
            <a:avLst/>
          </a:prstGeom>
          <a:solidFill>
            <a:srgbClr val="1E84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232FF3-EB86-96CF-6065-31E54A2BA5CC}"/>
              </a:ext>
            </a:extLst>
          </p:cNvPr>
          <p:cNvSpPr txBox="1"/>
          <p:nvPr/>
        </p:nvSpPr>
        <p:spPr>
          <a:xfrm>
            <a:off x="1270000" y="5016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C2833"/>
                </a:solidFill>
                <a:latin typeface="Calibri" panose="020F0502020204030204" pitchFamily="34" charset="0"/>
              </a:rPr>
              <a:t>CANCELLED - Pelanggan batalkan (stok dikembalikan, alasan dicatat)</a:t>
            </a:r>
          </a:p>
        </p:txBody>
      </p:sp>
    </p:spTree>
    <p:extLst>
      <p:ext uri="{BB962C8B-B14F-4D97-AF65-F5344CB8AC3E}">
        <p14:creationId xmlns:p14="http://schemas.microsoft.com/office/powerpoint/2010/main" val="370671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7BEC-58DD-EF63-4806-C0231AFC5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5B142-0537-9FB5-D717-246D34E9D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88AD9E-D6D7-CC2F-1027-43DBECA36B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2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9F46B-7D6D-B80D-FB27-6338E3604661}"/>
              </a:ext>
            </a:extLst>
          </p:cNvPr>
          <p:cNvSpPr/>
          <p:nvPr/>
        </p:nvSpPr>
        <p:spPr>
          <a:xfrm>
            <a:off x="0" y="4318000"/>
            <a:ext cx="12192000" cy="762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9615F-ACA2-D47F-6CBE-BF61725B3CAA}"/>
              </a:ext>
            </a:extLst>
          </p:cNvPr>
          <p:cNvSpPr txBox="1"/>
          <p:nvPr/>
        </p:nvSpPr>
        <p:spPr>
          <a:xfrm>
            <a:off x="743712" y="2845297"/>
            <a:ext cx="10668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5400" b="1" dirty="0" err="1">
                <a:solidFill>
                  <a:srgbClr val="FFFFFF"/>
                </a:solidFill>
                <a:latin typeface="Calibri Light" panose="020F0302020204030204" pitchFamily="34" charset="0"/>
              </a:rPr>
              <a:t>Terima</a:t>
            </a:r>
            <a:r>
              <a:rPr lang="en-US" sz="5400" b="1" dirty="0">
                <a:solidFill>
                  <a:srgbClr val="FFFFFF"/>
                </a:solidFill>
                <a:latin typeface="Calibri Light" panose="020F0302020204030204" pitchFamily="34" charset="0"/>
              </a:rPr>
              <a:t> Kasih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E01FA-D7F9-86AB-E5D6-8EBB2DB94D61}"/>
              </a:ext>
            </a:extLst>
          </p:cNvPr>
          <p:cNvSpPr txBox="1"/>
          <p:nvPr/>
        </p:nvSpPr>
        <p:spPr>
          <a:xfrm>
            <a:off x="762000" y="1704848"/>
            <a:ext cx="10668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dirty="0" err="1">
                <a:solidFill>
                  <a:srgbClr val="AED6F1"/>
                </a:solidFill>
                <a:latin typeface="Calibri" panose="020F0502020204030204" pitchFamily="34" charset="0"/>
              </a:rPr>
              <a:t>Sekian</a:t>
            </a:r>
            <a:r>
              <a:rPr lang="en-US" sz="3200" dirty="0">
                <a:solidFill>
                  <a:srgbClr val="AED6F1"/>
                </a:solidFill>
                <a:latin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AED6F1"/>
                </a:solidFill>
                <a:latin typeface="Calibri" panose="020F0502020204030204" pitchFamily="34" charset="0"/>
              </a:rPr>
              <a:t>Presentasi</a:t>
            </a:r>
            <a:endParaRPr lang="en-US" sz="3200" dirty="0">
              <a:solidFill>
                <a:srgbClr val="AED6F1"/>
              </a:solidFill>
              <a:latin typeface="Calibri" panose="020F0502020204030204" pitchFamily="34" charset="0"/>
            </a:endParaRPr>
          </a:p>
          <a:p>
            <a:r>
              <a:rPr lang="en-US" sz="3200" dirty="0">
                <a:solidFill>
                  <a:srgbClr val="AED6F1"/>
                </a:solidFill>
                <a:latin typeface="Calibri" panose="020F0502020204030204" pitchFamily="34" charset="0"/>
              </a:rPr>
              <a:t>Dari </a:t>
            </a:r>
            <a:r>
              <a:rPr lang="en-US" sz="3200" dirty="0" err="1">
                <a:solidFill>
                  <a:srgbClr val="AED6F1"/>
                </a:solidFill>
                <a:latin typeface="Calibri" panose="020F0502020204030204" pitchFamily="34" charset="0"/>
              </a:rPr>
              <a:t>Kelompok</a:t>
            </a:r>
            <a:r>
              <a:rPr lang="en-US" sz="3200" dirty="0">
                <a:solidFill>
                  <a:srgbClr val="AED6F1"/>
                </a:solidFill>
                <a:latin typeface="Calibri" panose="020F0502020204030204" pitchFamily="34" charset="0"/>
              </a:rPr>
              <a:t> Kami</a:t>
            </a:r>
            <a:endParaRPr lang="en-US" sz="2000" dirty="0">
              <a:solidFill>
                <a:srgbClr val="AED6F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407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572</Words>
  <Application>Microsoft Office PowerPoint</Application>
  <PresentationFormat>Widescreen</PresentationFormat>
  <Paragraphs>89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Efata Masambe</dc:creator>
  <cp:lastModifiedBy>Efata Masambe</cp:lastModifiedBy>
  <cp:revision>2</cp:revision>
  <dcterms:created xsi:type="dcterms:W3CDTF">2026-06-10T02:22:54Z</dcterms:created>
  <dcterms:modified xsi:type="dcterms:W3CDTF">2026-06-11T11:46:00Z</dcterms:modified>
</cp:coreProperties>
</file>